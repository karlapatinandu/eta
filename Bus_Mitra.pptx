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582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buses, 5,000 students, and no way to know where any of them are. No way to know where any of them are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student reaching the stop at 7:40 has no way to tell whether the bus left at 7:38 or is still ten minutes out. Twelve minutes of pure guessing, every single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not claiming nobody has solved bus tracking. We're claiming the economics of every existing solution assume either a regulator or a city-sized ridership. A 25-bus campus fleet is neither.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admin console is what makes the holiday problem solvable. Transport staff mark which buses are running, and every student sees it within seconds. Note the pilot ships as a web app; the mobile build lands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can be swapped without touching the others: a different tracker vendor, a different SIM provider, a different map renderer. Nothing in the stack locks us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design targets, not measured figures. The 3-bus pilot exists to replace them with real numbers. The one that matters is the 23-second upper bound: that is how stale the dot on the map can be, worst case, and it is the number we hold ourselves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Straight-line distance would tell a student the bus is 300 metres away when it still has a kilometre of one-way road to cover. Snapping to the route is what makes the ETA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column is the point of this slide. A tracking app that lies about where the bus is does more damage than no app at all. A student who trusts a frozen dot misses the bus and stops using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 is ₹91,050: hardware plus a year of running costs. From year 2 only the SIMs, the VPS and the domain recur, which is ₹37,700. Per student that is about eighteen rupees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the only thing we are asking to fund now. Three trackers and a web app answer the three questions that decide whether this works at all, before any mobile build or fleet-wide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0000504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6080"/>
            <a:ext cx="12191695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005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Mitra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4708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 tracking for the CBIT campus fleet. Live map, per-stop ETAs, arrival alerts.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30428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560320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Technology, Chaitanya Bharathi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Mitra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91153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607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no way to know where a bus is, or whether it is running at all.</a:t>
            </a:r>
            <a:endParaRPr lang="en-US" sz="1450" dirty="0"/>
          </a:p>
        </p:txBody>
      </p:sp>
      <p:pic>
        <p:nvPicPr>
          <p:cNvPr id="6" name="Image 0" descr="/home/claude/f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21" y="1737360"/>
            <a:ext cx="8652053" cy="2606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46634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position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92624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outside the driver knows where a bus is right now.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53712" y="46634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per-stop ETA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53712" y="4992624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timetables don't survive traffic, breakdowns or route changes.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375904" y="46634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trail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375904" y="4992624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runs on WhatsApp and phone calls. Nothing is recorded.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Mitra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91153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607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tracking is solved for regulators and for city transit. Not for a single campus.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232552"/>
              </p:ext>
            </p:extLst>
          </p:nvPr>
        </p:nvGraphicFramePr>
        <p:xfrm>
          <a:off x="731520" y="1627632"/>
          <a:ext cx="10725912" cy="3791712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granularity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for a college campus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Govt. AIS-140 VLTD 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ITS 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RTC / school-transport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mandates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Vehicle-level, feeds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servers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regulatory compliance, not student-facing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search, favourites or alerts. ₹4,000–25,000 per device.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fleet-tracking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LocoNav, TrackoBit,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Sahaj GPS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Fleet-manager 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student app and no per-stop ETA.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₹500–900 per vehicle per month, recurring.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transit apps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Chalo, state RTC apps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 UX,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closest parallel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on city-wide public ridership economics, which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exist for a private single-campus fleet.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quo at most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groups, phone calls,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 timetables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live data, zero accountability, and it breaks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completely on holidays and route changes.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Mitra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91153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607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interactions cover almost everything a student needs.</a:t>
            </a:r>
            <a:endParaRPr lang="en-US" sz="1450" dirty="0"/>
          </a:p>
        </p:txBody>
      </p:sp>
      <p:pic>
        <p:nvPicPr>
          <p:cNvPr id="6" name="Image 0" descr="/home/claude/f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212362"/>
            <a:ext cx="5760720" cy="28904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18745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running bus on the route, updating continuously.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34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stop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stop, see every bus serving it with an ETA.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7947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alert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notification a set number of minutes out.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754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Favourites</a:t>
            </a:r>
            <a:endParaRPr lang="en-US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029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bus you take daily and skip the search.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235440" y="2651760"/>
            <a:ext cx="2212848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D9DC"/>
            </a:solidFill>
            <a:prstDash val="solid"/>
          </a:ln>
          <a:effectLst>
            <a:outerShdw blurRad="127000" dist="25400" dir="5400000" algn="bl" rotWithShape="0">
              <a:srgbClr val="8A8A8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473184" y="287121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E5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9473184" y="3145536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status, which buses are active today, and holiday or route overrides that the student app picks up immediately.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Mitra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91153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607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each independently replaceable.</a:t>
            </a:r>
            <a:endParaRPr lang="en-US" sz="1450" dirty="0"/>
          </a:p>
        </p:txBody>
      </p:sp>
      <p:pic>
        <p:nvPicPr>
          <p:cNvPr id="6" name="Image 0" descr="/home/claude/f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683" y="1600200"/>
            <a:ext cx="6836329" cy="3703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55321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ingestion from delivery: GPS collection keeps running at full rate even when every student opens the app at 4 p.m.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Mitra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91153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607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budget for a GPS ping to reach the student's screen.</a:t>
            </a:r>
            <a:endParaRPr lang="en-US" sz="1450" dirty="0"/>
          </a:p>
        </p:txBody>
      </p:sp>
      <p:pic>
        <p:nvPicPr>
          <p:cNvPr id="6" name="Image 0" descr="/home/claude/f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254" y="1645920"/>
            <a:ext cx="9505188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4572000"/>
            <a:ext cx="3456432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D9DC"/>
            </a:solidFill>
            <a:prstDash val="solid"/>
          </a:ln>
          <a:effectLst>
            <a:outerShdw blurRad="127000" dist="25400" dir="5400000" algn="bl" rotWithShape="0">
              <a:srgbClr val="8A8A8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87552" y="4754880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   </a:t>
            </a:r>
            <a:r>
              <a:rPr lang="en-US" sz="1200" b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interval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87552" y="5230368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tracker reports a new position.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53712" y="4572000"/>
            <a:ext cx="3456432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D9DC"/>
            </a:solidFill>
            <a:prstDash val="solid"/>
          </a:ln>
          <a:effectLst>
            <a:outerShdw blurRad="127000" dist="25400" dir="5400000" algn="bl" rotWithShape="0">
              <a:srgbClr val="8A8A8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809744" y="4754880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s   </a:t>
            </a:r>
            <a:r>
              <a:rPr lang="en-US" sz="1200" b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latency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809744" y="5230368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Uplink, ingestion, ETA recompute and push.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375904" y="4572000"/>
            <a:ext cx="3456432" cy="1417320"/>
          </a:xfrm>
          <a:prstGeom prst="roundRect">
            <a:avLst>
              <a:gd name="adj" fmla="val 3226"/>
            </a:avLst>
          </a:prstGeom>
          <a:solidFill>
            <a:srgbClr val="0B193C"/>
          </a:solidFill>
          <a:ln w="12700">
            <a:solidFill>
              <a:srgbClr val="0B193C"/>
            </a:solidFill>
            <a:prstDash val="solid"/>
          </a:ln>
          <a:effectLst>
            <a:outerShdw blurRad="127000" dist="25400" dir="5400000" algn="bl" rotWithShape="0">
              <a:srgbClr val="8A8A8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31936" y="4754880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 s   </a:t>
            </a:r>
            <a:r>
              <a:rPr lang="en-US" sz="1200" b="1" dirty="0">
                <a:solidFill>
                  <a:srgbClr val="E5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staleness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631936" y="5230368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interval plus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Mitra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91153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607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GPS is noisy. Distance to the next stop is measured along the route, never straight-line.</a:t>
            </a:r>
            <a:endParaRPr lang="en-US" sz="1450" dirty="0"/>
          </a:p>
        </p:txBody>
      </p:sp>
      <p:pic>
        <p:nvPicPr>
          <p:cNvPr id="6" name="Image 0" descr="/home/claude/f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725" y="1600200"/>
            <a:ext cx="7273869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E55E1E"/>
          </a:solidFill>
          <a:ln w="12700">
            <a:solidFill>
              <a:srgbClr val="E55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243584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43584" y="216712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ping is matched to the nearest point on the known route, not trusted as-is.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E55E1E"/>
          </a:solidFill>
          <a:ln w="12700">
            <a:solidFill>
              <a:srgbClr val="E55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315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243584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43584" y="340156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distance is computed along the route geometry via OSRM.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4343400"/>
            <a:ext cx="365760" cy="365760"/>
          </a:xfrm>
          <a:prstGeom prst="ellipse">
            <a:avLst/>
          </a:prstGeom>
          <a:solidFill>
            <a:srgbClr val="E55E1E"/>
          </a:solidFill>
          <a:ln w="12700">
            <a:solidFill>
              <a:srgbClr val="E55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3152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43584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43584" y="46360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plus recent average speed for that segment gives the per-stop ETA.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Mitra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91153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607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has a defined behaviour. The app never fabricates a live position.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562699"/>
              </p:ext>
            </p:extLst>
          </p:nvPr>
        </p:nvGraphicFramePr>
        <p:xfrm>
          <a:off x="731520" y="1627632"/>
          <a:ext cx="10725912" cy="364540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response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student sees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passes through a tunnel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cellular dead zone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 buffers pings locally 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flushes the backlog on reconnect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"Last seen 2 min ago", an honest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marker, not a frozen live dot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 loses power 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drops off the 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M2M SIM monitoring surfaces the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centrally for transport staff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bus leaves the live map rather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sitting at a stale 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spike when every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opens the app at once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Pub/Sub decouples ingestion from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delivery; stateless API scales 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keeps updating at normal rate;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collection is unaffected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node or database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plus daily backups;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services restart clean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reconnect, then live again,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no loss of historical route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" y="57150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a stale timestamp instead of a confident wrong position is a product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Mitra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91153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607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25-bus fleet. Commodity hardware, India-hosted infrastructure, open-source mapping.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7863840" cy="3611880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+ GSM 4G tracker (bulk, non-AIS-140)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&amp; wiring harness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₹6,250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M2M / IoT SIM, bulk enterprise plan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SIMs × 12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VPS (2 vCPU / 4 GB, India-hosted)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₹1,200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₹800 /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Play developer account (one-time)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tiles, push notifications, SSL (OSM, Firebase free tier, Let's Encrypt)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(Year 1, 25 buses)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₹91,050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from Year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0B1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₹37,700/yr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915400" y="1737360"/>
            <a:ext cx="254203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D9DC"/>
            </a:solidFill>
            <a:prstDash val="solid"/>
          </a:ln>
          <a:effectLst>
            <a:outerShdw blurRad="127000" dist="25400" dir="5400000" algn="bl" rotWithShape="0">
              <a:srgbClr val="8A8A8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134856" y="18836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₹3,640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134856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bus, per year</a:t>
            </a:r>
            <a:endParaRPr lang="en-US" sz="1150" dirty="0"/>
          </a:p>
        </p:txBody>
      </p:sp>
      <p:sp>
        <p:nvSpPr>
          <p:cNvPr id="6" name="Shape 7"/>
          <p:cNvSpPr/>
          <p:nvPr/>
        </p:nvSpPr>
        <p:spPr>
          <a:xfrm>
            <a:off x="8915400" y="3017520"/>
            <a:ext cx="2542032" cy="1078992"/>
          </a:xfrm>
          <a:prstGeom prst="roundRect">
            <a:avLst>
              <a:gd name="adj" fmla="val 4237"/>
            </a:avLst>
          </a:prstGeom>
          <a:solidFill>
            <a:srgbClr val="0B193C"/>
          </a:solidFill>
          <a:ln w="12700">
            <a:solidFill>
              <a:srgbClr val="0B193C"/>
            </a:solidFill>
            <a:prstDash val="solid"/>
          </a:ln>
          <a:effectLst>
            <a:outerShdw blurRad="127000" dist="25400" dir="5400000" algn="bl" rotWithShape="0">
              <a:srgbClr val="8A8A8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134856" y="31638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134856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per year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Mitra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91153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607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to prove something before the next one is funded.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377440" y="2231136"/>
            <a:ext cx="7406640" cy="20117"/>
          </a:xfrm>
          <a:prstGeom prst="rect">
            <a:avLst/>
          </a:prstGeom>
          <a:solidFill>
            <a:srgbClr val="D8D9DC"/>
          </a:solidFill>
          <a:ln w="12700">
            <a:solidFill>
              <a:srgbClr val="D8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30552" y="1994306"/>
            <a:ext cx="493776" cy="493776"/>
          </a:xfrm>
          <a:prstGeom prst="ellipse">
            <a:avLst/>
          </a:prstGeom>
          <a:solidFill>
            <a:srgbClr val="E55E1E"/>
          </a:solidFill>
          <a:ln w="19050">
            <a:solidFill>
              <a:srgbClr val="E55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30552" y="199430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33872" y="1994306"/>
            <a:ext cx="493776" cy="493776"/>
          </a:xfrm>
          <a:prstGeom prst="ellipse">
            <a:avLst/>
          </a:prstGeom>
          <a:solidFill>
            <a:srgbClr val="F7F6F4"/>
          </a:solidFill>
          <a:ln w="19050">
            <a:solidFill>
              <a:srgbClr val="D8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833872" y="199430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37192" y="1994306"/>
            <a:ext cx="493776" cy="493776"/>
          </a:xfrm>
          <a:prstGeom prst="ellipse">
            <a:avLst/>
          </a:prstGeom>
          <a:solidFill>
            <a:srgbClr val="F7F6F4"/>
          </a:solidFill>
          <a:ln w="19050">
            <a:solidFill>
              <a:srgbClr val="D8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537192" y="199430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61488"/>
            <a:ext cx="3291840" cy="3054096"/>
          </a:xfrm>
          <a:prstGeom prst="roundRect">
            <a:avLst>
              <a:gd name="adj" fmla="val 1497"/>
            </a:avLst>
          </a:prstGeom>
          <a:solidFill>
            <a:srgbClr val="0B193C"/>
          </a:solidFill>
          <a:ln w="12700">
            <a:solidFill>
              <a:srgbClr val="0B193C"/>
            </a:solidFill>
            <a:prstDash val="solid"/>
          </a:ln>
          <a:effectLst>
            <a:outerShdw blurRad="127000" dist="25400" dir="5400000" algn="bl" rotWithShape="0">
              <a:srgbClr val="8A8A8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42416" y="299923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E5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329184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buses, web app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1042416" y="4059936"/>
            <a:ext cx="2670048" cy="12802"/>
          </a:xfrm>
          <a:prstGeom prst="rect">
            <a:avLst/>
          </a:prstGeom>
          <a:solidFill>
            <a:srgbClr val="2F4A78"/>
          </a:solidFill>
          <a:ln w="12700">
            <a:solidFill>
              <a:srgbClr val="2F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42416" y="4242816"/>
            <a:ext cx="267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reliability on live routes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Dead-zone buffering through underpasses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accuracy against actual arrival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34840" y="2761488"/>
            <a:ext cx="3291840" cy="3054096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12700">
            <a:solidFill>
              <a:srgbClr val="D8D9DC"/>
            </a:solidFill>
            <a:prstDash val="solid"/>
          </a:ln>
          <a:effectLst>
            <a:outerShdw blurRad="127000" dist="25400" dir="5400000" algn="bl" rotWithShape="0">
              <a:srgbClr val="8A8A8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745736" y="299923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45736" y="329184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en-US" sz="16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buses, mobile app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4745736" y="4059936"/>
            <a:ext cx="2670048" cy="12802"/>
          </a:xfrm>
          <a:prstGeom prst="rect">
            <a:avLst/>
          </a:prstGeom>
          <a:solidFill>
            <a:srgbClr val="D8D9DC"/>
          </a:solidFill>
          <a:ln w="12700">
            <a:solidFill>
              <a:srgbClr val="D8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745736" y="4242816"/>
            <a:ext cx="267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release to students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at peak usage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workflows and holiday scheduling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2761488"/>
            <a:ext cx="3291840" cy="3054096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12700">
            <a:solidFill>
              <a:srgbClr val="D8D9DC"/>
            </a:solidFill>
            <a:prstDash val="solid"/>
          </a:ln>
          <a:effectLst>
            <a:outerShdw blurRad="127000" dist="25400" dir="5400000" algn="bl" rotWithShape="0">
              <a:srgbClr val="8A8A8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449056" y="299923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CAMPUS-WIDE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49056" y="329184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r>
              <a:rPr lang="en-US" sz="16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routes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8449056" y="4059936"/>
            <a:ext cx="2670048" cy="12802"/>
          </a:xfrm>
          <a:prstGeom prst="rect">
            <a:avLst/>
          </a:prstGeom>
          <a:solidFill>
            <a:srgbClr val="D8D9DC"/>
          </a:solidFill>
          <a:ln w="12700">
            <a:solidFill>
              <a:srgbClr val="D8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449056" y="4242816"/>
            <a:ext cx="267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 in the fleet on the map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the full student body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B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to campus IT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60533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fleet-wide spend until the pilot proves ETA accuracy on real routes.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1333</Words>
  <Application>Microsoft Macintosh PowerPoint</Application>
  <PresentationFormat>Widescreen</PresentationFormat>
  <Paragraphs>210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Mahit Hazari</cp:lastModifiedBy>
  <cp:revision>2</cp:revision>
  <dcterms:created xsi:type="dcterms:W3CDTF">2026-09-14T15:29:40Z</dcterms:created>
  <dcterms:modified xsi:type="dcterms:W3CDTF">2026-09-14T16:09:21Z</dcterms:modified>
</cp:coreProperties>
</file>